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49273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143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591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3297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55953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85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111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66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610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5776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59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FD4BAD-5BC0-4AF8-B26A-E9FA5CA75DAD}" type="datetimeFigureOut">
              <a:rPr lang="en-US" smtClean="0"/>
              <a:t>8/4/2025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74DA9-EF90-404B-9969-0AB97E4B26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293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323" y="0"/>
            <a:ext cx="1122459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4000" b="1" dirty="0" smtClean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ICT1442 – FIBER OPTICAL TECHNOLOGY  –	</a:t>
            </a:r>
            <a:r>
              <a:rPr lang="en-US" sz="44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Communication Systems</a:t>
            </a:r>
            <a:endParaRPr lang="en-US" sz="4400" dirty="0">
              <a:solidFill>
                <a:schemeClr val="accent4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3600" b="1" dirty="0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6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r">
              <a:lnSpc>
                <a:spcPct val="150000"/>
              </a:lnSpc>
            </a:pPr>
            <a:r>
              <a:rPr lang="en-US" sz="3600" b="1" smtClean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 ICT</a:t>
            </a:r>
          </a:p>
          <a:p>
            <a:pPr algn="r">
              <a:lnSpc>
                <a:spcPct val="150000"/>
              </a:lnSpc>
            </a:pP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Education, Humanity </a:t>
            </a:r>
          </a:p>
          <a:p>
            <a:pPr algn="r">
              <a:lnSpc>
                <a:spcPct val="150000"/>
              </a:lnSpc>
            </a:pP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Social Sciences </a:t>
            </a:r>
          </a:p>
          <a:p>
            <a:pPr algn="r">
              <a:lnSpc>
                <a:spcPct val="150000"/>
              </a:lnSpc>
            </a:pPr>
            <a:r>
              <a:rPr lang="en-US" sz="36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EDEN UNIVERSITY</a:t>
            </a:r>
          </a:p>
        </p:txBody>
      </p:sp>
    </p:spTree>
    <p:extLst>
      <p:ext uri="{BB962C8B-B14F-4D97-AF65-F5344CB8AC3E}">
        <p14:creationId xmlns:p14="http://schemas.microsoft.com/office/powerpoint/2010/main" val="36418340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285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Communication Systems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235148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Communication Systems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utilize thin strands of glass or plastic fibers to transmit data as pulses of light. </a:t>
            </a: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This technology has revolutionized telecommunications by offering high-speed, high-capacity data transmission over long distances with minimal loss.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Advantages: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Bandwidth: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Capable of supporting vast amounts of data.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Low Attenuation: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Minimal signal loss over long distances.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Immunity to Electromagnetic Interference: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data integrity.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Difficult to tap into without detection.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296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260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Communication Systems Cont.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2608"/>
            <a:ext cx="10515600" cy="5910469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backbone infrastructure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Cable television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Long-distance telephony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Medical imaging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Military communications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1398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62608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 of Fiber Optic Networks</a:t>
            </a:r>
            <a:b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2608"/>
            <a:ext cx="10515600" cy="6195391"/>
          </a:xfrm>
        </p:spPr>
        <p:txBody>
          <a:bodyPr>
            <a:normAutofit/>
          </a:bodyPr>
          <a:lstStyle/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and implementing fiber optic networks involves several critical steps to ensure efficient, reliable, and scalable communication systems.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of Fiber Optic Networks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Fibers: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Core components that carry light signals. They come in two main types:</a:t>
            </a:r>
          </a:p>
          <a:p>
            <a:pPr lvl="1" algn="just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 Fibers (SMF):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long-distance transmission with higher bandwidth.</a:t>
            </a:r>
          </a:p>
          <a:p>
            <a:pPr lvl="1" algn="just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 Fibers (MMF):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Used for shorter distances due to modal dispersion.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Transceivers: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Devices that convert electrical signals to optical signals and vice versa.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Amplifiers: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Boost signal strength without converting to electrical signals, essential for long-haul networks.</a:t>
            </a:r>
          </a:p>
        </p:txBody>
      </p:sp>
    </p:spTree>
    <p:extLst>
      <p:ext uri="{BB962C8B-B14F-4D97-AF65-F5344CB8AC3E}">
        <p14:creationId xmlns:p14="http://schemas.microsoft.com/office/powerpoint/2010/main" val="3431209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75860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&amp; Implementation of Fiber Optic Networks</a:t>
            </a:r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75860"/>
            <a:ext cx="10515600" cy="6182139"/>
          </a:xfrm>
        </p:spPr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 Division Multiplexers (WDM):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Combine multiple wavelengths onto a single fiber to increase capacity.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Connectors and Splices: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Ensure proper joining of fiber strands with minimal loss.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Network Topologies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Point-to-Point: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Direct connection between two endpoints. Simple but limited scalability.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Ring: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Each node is connected to two other nodes, forming a circular pathway. Enhances redundancy.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Star: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Central hub connects to all endpoints. Easy to manage but can have single points of failure.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Mesh: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Every node is interconnected. Highly redundant and reliable but complex to implement.</a:t>
            </a:r>
          </a:p>
        </p:txBody>
      </p:sp>
    </p:spTree>
    <p:extLst>
      <p:ext uri="{BB962C8B-B14F-4D97-AF65-F5344CB8AC3E}">
        <p14:creationId xmlns:p14="http://schemas.microsoft.com/office/powerpoint/2010/main" val="6467017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361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Installation Practices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6104"/>
            <a:ext cx="10515600" cy="6221896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Planning and Design: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Assessing geographical and environmental factors to determine optimal routes.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Trenching and Ducting: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Creating pathways for fiber installation. Methods include:</a:t>
            </a:r>
          </a:p>
          <a:p>
            <a:pPr lvl="1"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Open Trenching: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Excavating trenches for fiber laying.</a:t>
            </a:r>
          </a:p>
          <a:p>
            <a:pPr lvl="1" algn="just">
              <a:lnSpc>
                <a:spcPct val="100000"/>
              </a:lnSpc>
            </a:pPr>
            <a:r>
              <a:rPr lang="en-US" sz="28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Microtrenching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Narrow trenches, less disruptive.</a:t>
            </a:r>
          </a:p>
          <a:p>
            <a:pPr lvl="1"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Aerial Deployment: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Using existing poles for fiber placement.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Fiber Laying: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Carefully placing fibers to avoid damage. Includes fusion splicing and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connectorization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Certification: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Ensuring the network meets performance standards using tools like Optical Time-Domain Reflectometers (OTDR).</a:t>
            </a:r>
          </a:p>
        </p:txBody>
      </p:sp>
    </p:spTree>
    <p:extLst>
      <p:ext uri="{BB962C8B-B14F-4D97-AF65-F5344CB8AC3E}">
        <p14:creationId xmlns:p14="http://schemas.microsoft.com/office/powerpoint/2010/main" val="2796773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6347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and Solutions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6348"/>
            <a:ext cx="10515600" cy="6261651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Physical Damage: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Protection against environmental hazards using armored fibers and protective conduits.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Signal Loss (Attenuation):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Utilizing repeaters and amplifiers to maintain signal strength.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Bend Radius Issues: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Designing routes with gentle curves to prevent fiber breakage.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Initial Costs: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Leveraging economies of scale and technological advancements to reduce deployment costs.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5134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83095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Steps: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23514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Assessment: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Analyze current infrastructure, data demand, and future growth projections.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Topology Selection: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Opt for a hybrid topology combining ring and mesh to ensure redundancy and scalability.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Selection: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Choose SMF for backbone and MMF for last-mile connections.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Route Planning: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Utilize existing underground conduits and aerial pathways where feasible.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Phase-wise deployment, starting with high-demand areas.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Conduct thorough testing to ensure minimal signal loss and high reliability.</a:t>
            </a:r>
          </a:p>
        </p:txBody>
      </p:sp>
    </p:spTree>
    <p:extLst>
      <p:ext uri="{BB962C8B-B14F-4D97-AF65-F5344CB8AC3E}">
        <p14:creationId xmlns:p14="http://schemas.microsoft.com/office/powerpoint/2010/main" val="29620021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361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Steps Cont.:</a:t>
            </a:r>
            <a: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6104"/>
            <a:ext cx="10515600" cy="6221896"/>
          </a:xfrm>
        </p:spPr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Maintenance Plan: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Establish protocols for regular inspections and swift repairs.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network resilience, increased data speeds, and support for emerging smart city technologies.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Long-Haul vs. Short-Haul Communication Systems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Fiber optic communication systems are categorized based on the distance they cover. </a:t>
            </a: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the differences between long-haul and short-haul systems is crucial for effective network design.</a:t>
            </a:r>
          </a:p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Definitions and Differences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Long-Haul Communication Systems: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Typically over 100 kilometers.</a:t>
            </a:r>
          </a:p>
          <a:p>
            <a:pPr lvl="1" algn="just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Usage: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Transcontinental, submarine cables, inter-city connections.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33766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2851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Long-Haul vs. Short-Haul Communication Systems</a:t>
            </a:r>
            <a:b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235148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Short-Haul Communication Systems: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Distance: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Up to 10 kilometers.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Usage: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Data centers, enterprise networks, within buildings or campuses.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and Equipment Used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Long-Haul: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Single-Mode Fibers (SMF):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Preferred for minimal signal loss over vast distances.</a:t>
            </a:r>
          </a:p>
          <a:p>
            <a:pPr lvl="1"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Amplifiers (e.g. Erbium-Doped Fiber Amplifiers - EDFAs):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Boost signals without electrical conversion.</a:t>
            </a:r>
          </a:p>
          <a:p>
            <a:pPr lvl="1"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 Division Multiplexing (WDM):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Increases capacity by transmitting multiple wavelengths.</a:t>
            </a:r>
          </a:p>
          <a:p>
            <a:pPr algn="just"/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2105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96347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Long-Haul vs. Short-Haul Communication Systems</a:t>
            </a:r>
            <a:b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96348"/>
            <a:ext cx="10515600" cy="6261652"/>
          </a:xfrm>
        </p:spPr>
        <p:txBody>
          <a:bodyPr/>
          <a:lstStyle/>
          <a:p>
            <a:pPr lvl="0"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Wavelength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Division Multiplexing (WDM):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Increases capacity by transmitting multiple wavelengths.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Short-Haul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Multi-Mode Fibers (MMF):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shorter distances with higher data rates.</a:t>
            </a:r>
          </a:p>
          <a:p>
            <a:pPr lvl="0"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Transceivers with Higher Data Rates: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 faster data transmission within limited ranges.</a:t>
            </a:r>
          </a:p>
          <a:p>
            <a:pPr lvl="0" algn="just">
              <a:lnSpc>
                <a:spcPct val="100000"/>
              </a:lnSpc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Simpler Network Components: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Reduced need for amplifiers and repeaters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3866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095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and Use Cases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6248400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Long-Haul: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Backbone: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Connecting major data centers and service providers.</a:t>
            </a:r>
          </a:p>
          <a:p>
            <a:pPr lvl="1"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Undersea Cables: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Facilitating global internet and telecommunication traffic.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Short-Haul: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Local Area Networks (LANs):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Connecting devices within a building or campus.</a:t>
            </a:r>
          </a:p>
          <a:p>
            <a:pPr lvl="1" algn="just">
              <a:lnSpc>
                <a:spcPct val="1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Centers: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High-speed connections between servers and storage systems.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174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54333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 Providers' Network Strategies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43338"/>
            <a:ext cx="10515600" cy="631466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AlphaTel's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Long-Haul Focus: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Invests heavily in undersea cables and transcontinental networks to enhance global connectivity.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Utilizes SMF with advanced WDM and optical amplifiers to maximize capacity.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Dominates international data traffic, offering robust global services.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BetaCom's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Approach: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Short-Haul Focus: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Concentrates on urban areas, providing high-speed internet and enterprise solutions.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Use: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Deploys MMF within cities, leveraging existing infrastructure for cost-effective deployments.</a:t>
            </a:r>
          </a:p>
        </p:txBody>
      </p:sp>
    </p:spTree>
    <p:extLst>
      <p:ext uri="{BB962C8B-B14F-4D97-AF65-F5344CB8AC3E}">
        <p14:creationId xmlns:p14="http://schemas.microsoft.com/office/powerpoint/2010/main" val="327446410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095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Telecom Providers' Network Strategies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6248400"/>
          </a:xfrm>
        </p:spPr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Captures a significant share of the local market with reliable, high-speed services.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94803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02364"/>
          </a:xfrm>
        </p:spPr>
        <p:txBody>
          <a:bodyPr>
            <a:noAutofit/>
          </a:bodyPr>
          <a:lstStyle/>
          <a:p>
            <a:pPr algn="ctr"/>
            <a:r>
              <a:rPr lang="en-US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to the Home &amp; Passive Optical Networks</a:t>
            </a:r>
            <a:endParaRPr lang="en-US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02364"/>
            <a:ext cx="10515600" cy="6155635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FTTH and PONs represent the latest advancements in delivering high-speed internet directly to end-users, ensuring reliable and scalable connectivity.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FTTH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Fiber to the Home (FTTH)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involves extending fiber optic cables directly to individual residences, providing unparalleled internet speeds and reliability compared to traditional copper-based connections.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Benefits: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High Bandwidth: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gigabit speeds, enabling seamless streaming, gaming, and smart home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689389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1561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Fiber to the Home &amp; Passive Optical Networks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15616"/>
            <a:ext cx="10515600" cy="6142383"/>
          </a:xfrm>
        </p:spPr>
        <p:txBody>
          <a:bodyPr/>
          <a:lstStyle/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Future-Proof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Easily scalable to accommodate increasing data demands.</a:t>
            </a:r>
          </a:p>
          <a:p>
            <a:pPr algn="just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Enhanced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Reliability: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Less susceptible to interference and degradation.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681875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36103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 Architecture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36104"/>
            <a:ext cx="10515600" cy="6221896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Passive Optical Networks (PONs)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are a type of fiber optic network that uses unpowered (passive) components between the service provider and the end-user.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Key Components: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Line Terminal (OLT):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Located at the service provider's central office, it manages the PON and communicates with multiple Optical Network Units (ONUs).</a:t>
            </a:r>
          </a:p>
          <a:p>
            <a:pPr algn="just">
              <a:lnSpc>
                <a:spcPct val="12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Splitters: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Passive devices that divide the optical signal to serve multiple endpoints without requiring power.</a:t>
            </a:r>
          </a:p>
        </p:txBody>
      </p:sp>
    </p:spTree>
    <p:extLst>
      <p:ext uri="{BB962C8B-B14F-4D97-AF65-F5344CB8AC3E}">
        <p14:creationId xmlns:p14="http://schemas.microsoft.com/office/powerpoint/2010/main" val="41707324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22851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 Architecture Cont.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852"/>
            <a:ext cx="10515600" cy="6235148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Network Units (ONUs)/Optical Network Terminals (ONTs):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Located at the user's premises, these devices convert optical signals to electrical signals for end-use.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PONs: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GPON (Gigabit PON):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Supports up to 2.488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Gbps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downstream and 1.244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Gbps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upstream.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EPON (Ethernet PON):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Utilizes Ethernet standards, offering up to 1 </a:t>
            </a:r>
            <a:r>
              <a:rPr lang="en-US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Gbps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symmetrical speeds.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10G-PON: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Future-proofing with higher bandwidth capabilities.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8831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93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PON Architecture Cont.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356"/>
            <a:ext cx="10515600" cy="6208643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Cost-Effective: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Shared infrastructure reduces overall deployment costs.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Easily adds more users by adjusting the split ratio.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Energy Efficiency: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Passive components require no power, reducing operational costs.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Challenges: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Shared Bandwidth: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Multiple users share the same fiber, potentially limiting individual bandwidth during peak times.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Upfront Deployment Costs: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High initial investment in infrastructure.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Complex Maintenance: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Troubleshooting shared networks can be more complex.</a:t>
            </a:r>
          </a:p>
        </p:txBody>
      </p:sp>
    </p:spTree>
    <p:extLst>
      <p:ext uri="{BB962C8B-B14F-4D97-AF65-F5344CB8AC3E}">
        <p14:creationId xmlns:p14="http://schemas.microsoft.com/office/powerpoint/2010/main" val="10236589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49356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Strategies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49356"/>
            <a:ext cx="10515600" cy="6208643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Point-to-Multipoint (P2MP):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A single fiber from the OLT splits to multiple ONUs, balancing cost and performance.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Point-to-Point (P2P):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Dedicated fiber for each user, offering higher security and bandwidth but at higher costs.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Hybrid Approaches: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Combining P2P and P2MP to optimize for specific deployment scenarios.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FTTH Deployment in Urban Residential Areas</a:t>
            </a:r>
          </a:p>
          <a:p>
            <a:pPr algn="just">
              <a:lnSpc>
                <a:spcPct val="100000"/>
              </a:lnSpc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 growing urban neighborhood demands high-speed internet for residents. A telecom company decides to deploy FTTH using a GPON architecture.</a:t>
            </a:r>
          </a:p>
          <a:p>
            <a:pPr algn="just"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4292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095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Deployment Steps:</a:t>
            </a:r>
            <a:br>
              <a:rPr lang="en-US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6248400"/>
          </a:xfrm>
        </p:spPr>
        <p:txBody>
          <a:bodyPr/>
          <a:lstStyle/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Infrastructure Assessment: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Survey existing conduits and plan new fiber routes to maximize coverage.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OLT Installation: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Set up OLT at the central office to manage the PON.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Fiber Laying: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Deploy fibers to street cabinets, ensuring minimal disruption to residents.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Optical Splitters Placement: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Install splitters at strategic points to serve multiple homes efficiently.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ONT Installation: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Provide ONTs to each residence, connecting to their devices.</a:t>
            </a:r>
          </a:p>
          <a:p>
            <a:pPr algn="just">
              <a:lnSpc>
                <a:spcPct val="100000"/>
              </a:lnSpc>
            </a:pP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Testing and Activation: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Ensure all connections meet performance standards before activating services.</a:t>
            </a:r>
          </a:p>
        </p:txBody>
      </p:sp>
    </p:spTree>
    <p:extLst>
      <p:ext uri="{BB962C8B-B14F-4D97-AF65-F5344CB8AC3E}">
        <p14:creationId xmlns:p14="http://schemas.microsoft.com/office/powerpoint/2010/main" val="29222723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609599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09600"/>
            <a:ext cx="10515600" cy="62484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Adoption Rates: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Residents enjoy reliable gigabit internet, boosting customer satisfaction.</a:t>
            </a:r>
          </a:p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Scalability: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network can easily accommodate future increases in data demand.</a:t>
            </a:r>
          </a:p>
          <a:p>
            <a:pPr lvl="0"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Revenue Growth: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Enhanced services attract new customers and retain existing ones.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Fiber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optic communication systems are the backbone of modern telecommunications, offering unmatched speed, reliability, and scalability. </a:t>
            </a:r>
            <a:endParaRPr lang="en-US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design and implementation of fiber optic networks, differentiating between long-haul and short-haul systems, and deploying advanced solutions like FTTH and PONs are essential for meeting the ever-growing data demands of today’s digital world.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95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</TotalTime>
  <Words>1625</Words>
  <Application>Microsoft Office PowerPoint</Application>
  <PresentationFormat>Widescreen</PresentationFormat>
  <Paragraphs>148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Calibri Light</vt:lpstr>
      <vt:lpstr>Times New Roman</vt:lpstr>
      <vt:lpstr>Office Theme</vt:lpstr>
      <vt:lpstr>PowerPoint Presentation</vt:lpstr>
      <vt:lpstr>Fiber Optic Communication Systems</vt:lpstr>
      <vt:lpstr>Fiber Optic Communication Systems Cont.</vt:lpstr>
      <vt:lpstr> Design &amp; Implementation of Fiber Optic Networks </vt:lpstr>
      <vt:lpstr> Design &amp; Implementation of Fiber Optic Networks </vt:lpstr>
      <vt:lpstr> Installation Practices </vt:lpstr>
      <vt:lpstr> Challenges and Solutions </vt:lpstr>
      <vt:lpstr> Design Steps: </vt:lpstr>
      <vt:lpstr> Design Steps Cont.: </vt:lpstr>
      <vt:lpstr> Long-Haul vs. Short-Haul Communication Systems </vt:lpstr>
      <vt:lpstr> Long-Haul vs. Short-Haul Communication Systems </vt:lpstr>
      <vt:lpstr> Applications and Use Cases </vt:lpstr>
      <vt:lpstr>Telecom Providers' Network Strategies</vt:lpstr>
      <vt:lpstr>Telecom Providers' Network Strategies</vt:lpstr>
      <vt:lpstr>Fiber to the Home &amp; Passive Optical Networks</vt:lpstr>
      <vt:lpstr>Fiber to the Home &amp; Passive Optical Networks</vt:lpstr>
      <vt:lpstr> PON Architecture </vt:lpstr>
      <vt:lpstr> PON Architecture Cont. </vt:lpstr>
      <vt:lpstr> PON Architecture Cont. </vt:lpstr>
      <vt:lpstr> Deployment Strategies </vt:lpstr>
      <vt:lpstr> Deployment Steps: 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Uncle Ryan</dc:creator>
  <cp:lastModifiedBy>Tanaka Gabriel Machakaire</cp:lastModifiedBy>
  <cp:revision>43</cp:revision>
  <dcterms:created xsi:type="dcterms:W3CDTF">2024-10-11T06:48:12Z</dcterms:created>
  <dcterms:modified xsi:type="dcterms:W3CDTF">2025-08-04T12:18:27Z</dcterms:modified>
</cp:coreProperties>
</file>